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20068"/>
    <a:srgbClr val="02001E"/>
    <a:srgbClr val="0C0000"/>
    <a:srgbClr val="32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6" d="100"/>
          <a:sy n="76" d="100"/>
        </p:scale>
        <p:origin x="917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10A24-AE2A-AE81-7094-39D009E2F6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45EC3D-639A-FC84-3220-D0FFB9AB6A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6DCF92-A1F1-6949-76F2-73C89EF34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6F7B-0E01-48B3-8012-73C2B132D34F}" type="datetimeFigureOut">
              <a:rPr lang="en-IN" smtClean="0"/>
              <a:t>13-03-2026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AACD19-5C02-A93E-BE08-588041FA6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BE881-6102-3BA4-38E9-106A651C7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FFF0-A88D-4646-B3AA-6E047045D1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443932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6B271-E54F-F675-8E92-26DB2C75C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44503-00FC-90A9-D624-8357DC733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CCC88-DDCD-38EB-D0B6-203629D701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6F7B-0E01-48B3-8012-73C2B132D34F}" type="datetimeFigureOut">
              <a:rPr lang="en-IN" smtClean="0"/>
              <a:t>13-03-2026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87AEC7-4EA9-E061-217D-BAD588376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C30B9E-29B7-E96B-3310-172497A3B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FFF0-A88D-4646-B3AA-6E047045D1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6350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14698-D034-774B-1DAE-7E6EB76C3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7715DC-2070-8730-1553-1047191AE9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4E1513-4D42-B083-9C3B-8FA873D2A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6F7B-0E01-48B3-8012-73C2B132D34F}" type="datetimeFigureOut">
              <a:rPr lang="en-IN" smtClean="0"/>
              <a:t>13-03-2026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DEBE55-B0F2-2F53-7A06-2EE3086C2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401589-8397-F862-09E5-D5EED9348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FFF0-A88D-4646-B3AA-6E047045D1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3035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99EB5-06D1-9857-F4B0-AAFA23ACD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5025CF-8052-92A0-36BB-DE46DE264C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D63E04-4DA3-B292-1E26-42790DFC9EB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6D8772-E359-2237-0808-84C738F40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6F7B-0E01-48B3-8012-73C2B132D34F}" type="datetimeFigureOut">
              <a:rPr lang="en-IN" smtClean="0"/>
              <a:t>13-03-2026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8A66FD-D12B-1E0C-FE9D-AE23D857E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2849F-233C-EA5C-E93C-C4FD7297F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FFF0-A88D-4646-B3AA-6E047045D1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8257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28C5F-E9E9-7ED5-D928-78D907EF8B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6A4623-9FE0-74E3-DECA-76826F134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0261FF-32EF-0693-780B-2DC8EBB6A4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7D00289-2047-A850-8BCB-CB745CD30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DC28F90-72D9-8D9F-0177-2B7E545980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3BF30C-B956-0733-5E83-DBCFE1358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6F7B-0E01-48B3-8012-73C2B132D34F}" type="datetimeFigureOut">
              <a:rPr lang="en-IN" smtClean="0"/>
              <a:t>13-03-2026</a:t>
            </a:fld>
            <a:endParaRPr lang="en-IN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07F637-FF2A-8B7A-A477-B661C2E76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3F4D16-1D03-25D2-3C90-DA455C196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FFF0-A88D-4646-B3AA-6E047045D1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978967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553C47-2593-2856-EFEF-BB12FFFE35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5C0BAAF-9016-B326-45C7-8EF835C89E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6F7B-0E01-48B3-8012-73C2B132D34F}" type="datetimeFigureOut">
              <a:rPr lang="en-IN" smtClean="0"/>
              <a:t>13-03-2026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C32ACD-A8F5-EA78-23DD-B69BD4DB6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07E452-D8B3-14EB-DC77-2820E900C6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FFF0-A88D-4646-B3AA-6E047045D1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60136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DF7E6F-2BF7-C715-9CA8-ADA49C940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6F7B-0E01-48B3-8012-73C2B132D34F}" type="datetimeFigureOut">
              <a:rPr lang="en-IN" smtClean="0"/>
              <a:t>13-03-2026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267046-B631-66F1-8E50-3B4386AA13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F35AC9-E533-D103-DDFA-A4AD9427FE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FFF0-A88D-4646-B3AA-6E047045D1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722202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5E5AEF-2032-1126-565F-482613A56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588957-D921-A68D-63F2-985915FBA1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7A519C-90A6-760C-64B8-E58BCFC509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A13568-D94C-181C-1322-AC629B22A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6F7B-0E01-48B3-8012-73C2B132D34F}" type="datetimeFigureOut">
              <a:rPr lang="en-IN" smtClean="0"/>
              <a:t>13-03-2026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59A630-4BB9-4CC5-FEF7-6AFAFC884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AA3BC8-F554-74BB-FE22-A07DB555A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FFF0-A88D-4646-B3AA-6E047045D1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51147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01E1B-D2E7-C6F8-6634-F406967FB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B37F48-DE09-1560-B6A3-14CF863391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C579B-90AE-A681-2220-BFD91C27B1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785BCF-98CE-809B-6C30-83D932B15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6F7B-0E01-48B3-8012-73C2B132D34F}" type="datetimeFigureOut">
              <a:rPr lang="en-IN" smtClean="0"/>
              <a:t>13-03-2026</a:t>
            </a:fld>
            <a:endParaRPr lang="en-IN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4B7D4-ADFE-675B-7744-E7AFCF4DA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64EB24-2E0C-1FFC-D5AD-D5763D378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FFF0-A88D-4646-B3AA-6E047045D1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9848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0FF2C8-BEA7-9B13-879E-939BE31F55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0D09BE-5417-BCBF-3C31-741FFB673E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3030C-53FD-ECB6-E579-C891FED750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6F7B-0E01-48B3-8012-73C2B132D34F}" type="datetimeFigureOut">
              <a:rPr lang="en-IN" smtClean="0"/>
              <a:t>13-03-2026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5EA265-90CD-F64F-3FE1-AEA7CA3DD6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317002-A2D4-6CF1-B2FF-EA01AD344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FFF0-A88D-4646-B3AA-6E047045D1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93218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F90EF4-F507-061C-4B84-47207D9AEF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CE1EB6-FABB-A1E8-0AAB-B343C113DD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CAB47F-AEE8-8926-7902-61239737E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036F7B-0E01-48B3-8012-73C2B132D34F}" type="datetimeFigureOut">
              <a:rPr lang="en-IN" smtClean="0"/>
              <a:t>13-03-2026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81314-91D9-B36D-433E-03882B455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605532-8032-5675-BEE3-D3D875A09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95FFF0-A88D-4646-B3AA-6E047045D1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65535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1B4175-7AA5-C817-0427-3C76774AEE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85A13-CF35-6546-D806-18567F587A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ED9272-601D-0DCE-75AE-C463687B366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036F7B-0E01-48B3-8012-73C2B132D34F}" type="datetimeFigureOut">
              <a:rPr lang="en-IN" smtClean="0"/>
              <a:t>13-03-2026</a:t>
            </a:fld>
            <a:endParaRPr lang="en-IN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5D04D1-3EED-E7D7-2447-683F443252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D2F44F-7309-7984-5DE4-C6E041BBA8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95FFF0-A88D-4646-B3AA-6E047045D1BE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655374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D9A08-AA85-09C3-4BDF-FDB34161573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E59FE57-AC5B-5722-3AA8-B280F9D823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0FD78F-08D0-B6E2-2C1E-4496C04E7A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831"/>
            <a:ext cx="12234629" cy="683418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92DFB86-6F0B-5D08-D14F-3A7922E35F3F}"/>
              </a:ext>
            </a:extLst>
          </p:cNvPr>
          <p:cNvSpPr txBox="1"/>
          <p:nvPr/>
        </p:nvSpPr>
        <p:spPr>
          <a:xfrm>
            <a:off x="4218862" y="528114"/>
            <a:ext cx="332330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Bradley Hand ITC" panose="03070402050302030203" pitchFamily="66" charset="0"/>
              </a:rPr>
              <a:t>TECHNEX 26’</a:t>
            </a:r>
            <a:endParaRPr lang="en-IN" sz="3200" dirty="0">
              <a:solidFill>
                <a:schemeClr val="bg1"/>
              </a:solidFill>
              <a:latin typeface="Bradley Hand ITC" panose="03070402050302030203" pitchFamily="66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E89BEA-C523-FCCD-05F2-82DBB5441154}"/>
              </a:ext>
            </a:extLst>
          </p:cNvPr>
          <p:cNvSpPr txBox="1"/>
          <p:nvPr/>
        </p:nvSpPr>
        <p:spPr>
          <a:xfrm>
            <a:off x="3116825" y="1117841"/>
            <a:ext cx="55060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dirty="0">
                <a:solidFill>
                  <a:schemeClr val="bg1"/>
                </a:solidFill>
                <a:latin typeface="Old English Text MT" panose="03040902040508030806" pitchFamily="66" charset="0"/>
              </a:rPr>
              <a:t>Hack It Out</a:t>
            </a:r>
            <a:endParaRPr lang="en-IN" sz="5400" dirty="0">
              <a:solidFill>
                <a:schemeClr val="bg1"/>
              </a:solidFill>
              <a:latin typeface="Old English Text MT" panose="03040902040508030806" pitchFamily="66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210C633-31CA-FCFC-6A25-1106A888BCCD}"/>
              </a:ext>
            </a:extLst>
          </p:cNvPr>
          <p:cNvCxnSpPr>
            <a:cxnSpLocks/>
          </p:cNvCxnSpPr>
          <p:nvPr/>
        </p:nvCxnSpPr>
        <p:spPr>
          <a:xfrm>
            <a:off x="2305664" y="2078620"/>
            <a:ext cx="7580671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D51FFE-005D-FA92-9DCB-EB45D4314E1C}"/>
              </a:ext>
            </a:extLst>
          </p:cNvPr>
          <p:cNvCxnSpPr/>
          <p:nvPr/>
        </p:nvCxnSpPr>
        <p:spPr>
          <a:xfrm>
            <a:off x="2743200" y="2231923"/>
            <a:ext cx="6636774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3DB3A129-2CCB-8377-E948-FEF54907F4F8}"/>
              </a:ext>
            </a:extLst>
          </p:cNvPr>
          <p:cNvSpPr txBox="1"/>
          <p:nvPr/>
        </p:nvSpPr>
        <p:spPr>
          <a:xfrm>
            <a:off x="4149213" y="2815213"/>
            <a:ext cx="38247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Bernard MT Condensed" panose="02050806060905020404" pitchFamily="18" charset="0"/>
              </a:rPr>
              <a:t>THE POINTLESS POINTERS</a:t>
            </a:r>
            <a:endParaRPr lang="en-IN" sz="2800" dirty="0">
              <a:solidFill>
                <a:schemeClr val="bg1"/>
              </a:solidFill>
              <a:latin typeface="Bernard MT Condensed" panose="02050806060905020404" pitchFamily="18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703CC66-A440-DBEA-FC0F-94D182A45766}"/>
              </a:ext>
            </a:extLst>
          </p:cNvPr>
          <p:cNvCxnSpPr/>
          <p:nvPr/>
        </p:nvCxnSpPr>
        <p:spPr>
          <a:xfrm>
            <a:off x="3364280" y="3338433"/>
            <a:ext cx="503246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4ACAC04-DED2-8228-4A1E-2845BABD926C}"/>
              </a:ext>
            </a:extLst>
          </p:cNvPr>
          <p:cNvCxnSpPr/>
          <p:nvPr/>
        </p:nvCxnSpPr>
        <p:spPr>
          <a:xfrm>
            <a:off x="3864077" y="3429000"/>
            <a:ext cx="4011562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E8E757E9-2C4E-FD9A-1636-F456F0248615}"/>
              </a:ext>
            </a:extLst>
          </p:cNvPr>
          <p:cNvSpPr/>
          <p:nvPr/>
        </p:nvSpPr>
        <p:spPr>
          <a:xfrm>
            <a:off x="2177845" y="1989701"/>
            <a:ext cx="176980" cy="19664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26694AF2-4CC3-1C30-B009-9D94AC30DD5E}"/>
              </a:ext>
            </a:extLst>
          </p:cNvPr>
          <p:cNvSpPr/>
          <p:nvPr/>
        </p:nvSpPr>
        <p:spPr>
          <a:xfrm>
            <a:off x="9791311" y="1963542"/>
            <a:ext cx="176980" cy="19664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A4F4B6FF-F6B1-79BA-7694-D1210A76A579}"/>
              </a:ext>
            </a:extLst>
          </p:cNvPr>
          <p:cNvSpPr/>
          <p:nvPr/>
        </p:nvSpPr>
        <p:spPr>
          <a:xfrm>
            <a:off x="2616189" y="2119518"/>
            <a:ext cx="176980" cy="19664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84C360E1-32C8-15A6-8C91-9C086D69C931}"/>
              </a:ext>
            </a:extLst>
          </p:cNvPr>
          <p:cNvSpPr/>
          <p:nvPr/>
        </p:nvSpPr>
        <p:spPr>
          <a:xfrm>
            <a:off x="9330005" y="2160187"/>
            <a:ext cx="176980" cy="19664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C05C8E11-D554-D516-0CA8-5FD7B12772D6}"/>
              </a:ext>
            </a:extLst>
          </p:cNvPr>
          <p:cNvSpPr/>
          <p:nvPr/>
        </p:nvSpPr>
        <p:spPr>
          <a:xfrm>
            <a:off x="3187300" y="3220449"/>
            <a:ext cx="176980" cy="19664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3A31252-7AC2-D291-3832-B9139907F1C8}"/>
              </a:ext>
            </a:extLst>
          </p:cNvPr>
          <p:cNvSpPr/>
          <p:nvPr/>
        </p:nvSpPr>
        <p:spPr>
          <a:xfrm>
            <a:off x="8342671" y="3243037"/>
            <a:ext cx="176980" cy="19664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E528240F-E426-84BF-07B7-F877D33B8841}"/>
              </a:ext>
            </a:extLst>
          </p:cNvPr>
          <p:cNvSpPr/>
          <p:nvPr/>
        </p:nvSpPr>
        <p:spPr>
          <a:xfrm>
            <a:off x="3760840" y="3354101"/>
            <a:ext cx="176980" cy="19664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9987D37-FACC-659D-6BB4-5821EC93D603}"/>
              </a:ext>
            </a:extLst>
          </p:cNvPr>
          <p:cNvSpPr/>
          <p:nvPr/>
        </p:nvSpPr>
        <p:spPr>
          <a:xfrm>
            <a:off x="7769131" y="3340509"/>
            <a:ext cx="176980" cy="196645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4" name="Scroll: Horizontal 33">
            <a:extLst>
              <a:ext uri="{FF2B5EF4-FFF2-40B4-BE49-F238E27FC236}">
                <a16:creationId xmlns:a16="http://schemas.microsoft.com/office/drawing/2014/main" id="{39E7A024-143B-E035-DB90-80FCDE16B910}"/>
              </a:ext>
            </a:extLst>
          </p:cNvPr>
          <p:cNvSpPr/>
          <p:nvPr/>
        </p:nvSpPr>
        <p:spPr>
          <a:xfrm>
            <a:off x="1133169" y="4158454"/>
            <a:ext cx="5432322" cy="1821404"/>
          </a:xfrm>
          <a:prstGeom prst="horizontalScroll">
            <a:avLst/>
          </a:prstGeom>
          <a:solidFill>
            <a:srgbClr val="02001E">
              <a:alpha val="69804"/>
            </a:srgb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8B412C-A5C0-20F6-19A4-E95FE6A2620F}"/>
              </a:ext>
            </a:extLst>
          </p:cNvPr>
          <p:cNvSpPr txBox="1"/>
          <p:nvPr/>
        </p:nvSpPr>
        <p:spPr>
          <a:xfrm>
            <a:off x="1760786" y="4498488"/>
            <a:ext cx="442451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i="1" dirty="0">
                <a:solidFill>
                  <a:schemeClr val="bg1"/>
                </a:solidFill>
              </a:rPr>
              <a:t>I refactored my logic to make you the lead,</a:t>
            </a:r>
          </a:p>
          <a:p>
            <a:r>
              <a:rPr lang="en-US" i="1" dirty="0">
                <a:solidFill>
                  <a:schemeClr val="bg1"/>
                </a:solidFill>
              </a:rPr>
              <a:t>The only dependency I’m banking on,</a:t>
            </a:r>
          </a:p>
          <a:p>
            <a:r>
              <a:rPr lang="en-US" i="1" dirty="0">
                <a:solidFill>
                  <a:schemeClr val="bg1"/>
                </a:solidFill>
              </a:rPr>
              <a:t>I thought it’s where we meet,</a:t>
            </a:r>
          </a:p>
          <a:p>
            <a:r>
              <a:rPr lang="en-US" i="1" dirty="0">
                <a:solidFill>
                  <a:schemeClr val="bg1"/>
                </a:solidFill>
              </a:rPr>
              <a:t>But sorrow it’s a hackathon…</a:t>
            </a:r>
            <a:endParaRPr lang="en-IN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0861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BEFD5-B33F-83AF-82A0-7CA3B7678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85A11F-3D86-4C24-16F5-D55B3BE7935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74CFD6-639B-69D7-0914-E633FEF62F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D2AB588-B5E1-0D5C-708D-862F30C176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4629" cy="68341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9A8ECAE-A2B6-E2CC-67A0-D11AFF528414}"/>
              </a:ext>
            </a:extLst>
          </p:cNvPr>
          <p:cNvSpPr txBox="1"/>
          <p:nvPr/>
        </p:nvSpPr>
        <p:spPr>
          <a:xfrm>
            <a:off x="4031242" y="268794"/>
            <a:ext cx="417214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Impact" panose="020B0806030902050204" pitchFamily="34" charset="0"/>
              </a:rPr>
              <a:t>Problem Breakdown</a:t>
            </a:r>
            <a:endParaRPr lang="en-IN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68A5275-A2F3-52F0-4D1D-056332520FBC}"/>
              </a:ext>
            </a:extLst>
          </p:cNvPr>
          <p:cNvCxnSpPr/>
          <p:nvPr/>
        </p:nvCxnSpPr>
        <p:spPr>
          <a:xfrm>
            <a:off x="4218039" y="853569"/>
            <a:ext cx="377558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8B615A4E-BE0C-09FF-FB5C-358EB7845069}"/>
              </a:ext>
            </a:extLst>
          </p:cNvPr>
          <p:cNvSpPr/>
          <p:nvPr/>
        </p:nvSpPr>
        <p:spPr>
          <a:xfrm>
            <a:off x="4173794" y="795036"/>
            <a:ext cx="88490" cy="10457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86E1F70-33A0-C4AC-2910-D6392C909F21}"/>
              </a:ext>
            </a:extLst>
          </p:cNvPr>
          <p:cNvSpPr/>
          <p:nvPr/>
        </p:nvSpPr>
        <p:spPr>
          <a:xfrm>
            <a:off x="7975603" y="804639"/>
            <a:ext cx="88490" cy="10457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4E9419-F92D-D6F9-CC65-E32C3B9835ED}"/>
              </a:ext>
            </a:extLst>
          </p:cNvPr>
          <p:cNvSpPr txBox="1"/>
          <p:nvPr/>
        </p:nvSpPr>
        <p:spPr>
          <a:xfrm>
            <a:off x="1120877" y="1122363"/>
            <a:ext cx="9743768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>
                <a:solidFill>
                  <a:schemeClr val="bg1"/>
                </a:solidFill>
              </a:rPr>
              <a:t>Ever wondered if studying climatic conditions can be fun?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In order to study the geographical politics of climate, one has to undergo hours of brainstorming through various numbers which can turn out to be very hectic, stressful and boring.</a:t>
            </a:r>
          </a:p>
          <a:p>
            <a:pPr algn="just"/>
            <a:r>
              <a:rPr lang="en-US" dirty="0">
                <a:solidFill>
                  <a:schemeClr val="bg1"/>
                </a:solidFill>
              </a:rPr>
              <a:t> Visualizing climate simulation output is vital for scientific understanding, yet raw multi-dimensional NetCDF data remains complex and difficult to parse. Currently, there is a lack of rapid-prototype tools that allow researchers and the public to interactively "slice and dice" this data in real-time. This technical barrier prevents raw climate numbers from being transformed into a compelling story for public outreach. Without accessible visualization, critical trends in variables like temperature or precipitation remain locked in raw datasets.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0840B04-7F1A-5796-0771-969BC4B3EC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8330" y="4171397"/>
            <a:ext cx="2447986" cy="2000183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chemeClr val="accent1">
                <a:lumMod val="50000"/>
              </a:schemeClr>
            </a:solidFill>
            <a:miter lim="800000"/>
          </a:ln>
          <a:effectLst>
            <a:glow rad="101600">
              <a:schemeClr val="tx1">
                <a:alpha val="60000"/>
              </a:schemeClr>
            </a:glow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07B0862-A9DC-F0C9-B810-927E89396D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4119778"/>
            <a:ext cx="2482662" cy="209434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26349758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5AC2F-FE63-30B3-CF0F-FD39832622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26FD5-C578-9377-5D0B-44EAD65850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579022-AC44-7B0F-AB2E-8A11101AFB7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BFE6FD2-4FCF-5ED6-F9A2-05BD2ED95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4629" cy="68341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D2CE0E7-2F16-00A7-5162-87D6064F47B8}"/>
              </a:ext>
            </a:extLst>
          </p:cNvPr>
          <p:cNvSpPr txBox="1"/>
          <p:nvPr/>
        </p:nvSpPr>
        <p:spPr>
          <a:xfrm>
            <a:off x="1818966" y="295340"/>
            <a:ext cx="855406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Impact" panose="020B0806030902050204" pitchFamily="34" charset="0"/>
              </a:rPr>
              <a:t>Proposed Solution</a:t>
            </a:r>
            <a:endParaRPr lang="en-IN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BFE605-6C9E-D272-1E33-6FD7D8305BBB}"/>
              </a:ext>
            </a:extLst>
          </p:cNvPr>
          <p:cNvCxnSpPr/>
          <p:nvPr/>
        </p:nvCxnSpPr>
        <p:spPr>
          <a:xfrm>
            <a:off x="4218039" y="902729"/>
            <a:ext cx="377558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>
            <a:extLst>
              <a:ext uri="{FF2B5EF4-FFF2-40B4-BE49-F238E27FC236}">
                <a16:creationId xmlns:a16="http://schemas.microsoft.com/office/drawing/2014/main" id="{CBE64CCC-28D4-0BB5-0964-A23A22B52331}"/>
              </a:ext>
            </a:extLst>
          </p:cNvPr>
          <p:cNvSpPr/>
          <p:nvPr/>
        </p:nvSpPr>
        <p:spPr>
          <a:xfrm>
            <a:off x="4173794" y="854028"/>
            <a:ext cx="88490" cy="10457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D9D1D03-BF36-175C-0C85-A3E641F49214}"/>
              </a:ext>
            </a:extLst>
          </p:cNvPr>
          <p:cNvSpPr/>
          <p:nvPr/>
        </p:nvSpPr>
        <p:spPr>
          <a:xfrm>
            <a:off x="7975603" y="853802"/>
            <a:ext cx="88490" cy="10457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4B28202-5388-66C5-99A9-998F97B14A34}"/>
              </a:ext>
            </a:extLst>
          </p:cNvPr>
          <p:cNvSpPr txBox="1"/>
          <p:nvPr/>
        </p:nvSpPr>
        <p:spPr>
          <a:xfrm>
            <a:off x="1209368" y="914400"/>
            <a:ext cx="945863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>
                <a:solidFill>
                  <a:schemeClr val="bg1"/>
                </a:solidFill>
              </a:rPr>
              <a:t>PyClimaExplorer</a:t>
            </a:r>
            <a:r>
              <a:rPr lang="en-US" sz="1400" dirty="0">
                <a:solidFill>
                  <a:schemeClr val="bg1"/>
                </a:solidFill>
              </a:rPr>
              <a:t> is an interactive web-based dashboard designed to transform raw </a:t>
            </a:r>
            <a:r>
              <a:rPr lang="en-US" sz="1400" b="1" dirty="0">
                <a:solidFill>
                  <a:schemeClr val="bg1"/>
                </a:solidFill>
              </a:rPr>
              <a:t>NetCDF</a:t>
            </a:r>
            <a:r>
              <a:rPr lang="en-US" sz="1400" dirty="0">
                <a:solidFill>
                  <a:schemeClr val="bg1"/>
                </a:solidFill>
              </a:rPr>
              <a:t> climate data into a compelling planetary story in real-time. By leveraging </a:t>
            </a:r>
            <a:r>
              <a:rPr lang="en-US" sz="1400" b="1" dirty="0">
                <a:solidFill>
                  <a:schemeClr val="bg1"/>
                </a:solidFill>
              </a:rPr>
              <a:t>Streamlit</a:t>
            </a:r>
            <a:r>
              <a:rPr lang="en-US" sz="1400" dirty="0">
                <a:solidFill>
                  <a:schemeClr val="bg1"/>
                </a:solidFill>
              </a:rPr>
              <a:t> and </a:t>
            </a:r>
            <a:r>
              <a:rPr lang="en-US" sz="1400" b="1" dirty="0">
                <a:solidFill>
                  <a:schemeClr val="bg1"/>
                </a:solidFill>
              </a:rPr>
              <a:t>Xarray</a:t>
            </a:r>
            <a:r>
              <a:rPr lang="en-US" sz="1400" dirty="0">
                <a:solidFill>
                  <a:schemeClr val="bg1"/>
                </a:solidFill>
              </a:rPr>
              <a:t>, our tool enables researchers and the public to "slice and dice" multi-dimensional simulation outputs (like </a:t>
            </a:r>
            <a:r>
              <a:rPr lang="en-US" sz="1400" b="1" dirty="0">
                <a:solidFill>
                  <a:schemeClr val="bg1"/>
                </a:solidFill>
              </a:rPr>
              <a:t>CESM</a:t>
            </a:r>
            <a:r>
              <a:rPr lang="en-US" sz="1400" dirty="0">
                <a:solidFill>
                  <a:schemeClr val="bg1"/>
                </a:solidFill>
              </a:rPr>
              <a:t> or </a:t>
            </a:r>
            <a:r>
              <a:rPr lang="en-US" sz="1400" b="1" dirty="0">
                <a:solidFill>
                  <a:schemeClr val="bg1"/>
                </a:solidFill>
              </a:rPr>
              <a:t>ERA5</a:t>
            </a:r>
            <a:r>
              <a:rPr lang="en-US" sz="1400" dirty="0">
                <a:solidFill>
                  <a:schemeClr val="bg1"/>
                </a:solidFill>
              </a:rPr>
              <a:t>) with ease. This rapid-prototype solution bridges the gap between complex scientific numbers and intuitive visual understanding.</a:t>
            </a:r>
          </a:p>
          <a:p>
            <a:pPr algn="just"/>
            <a:endParaRPr lang="en-US" sz="1400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chemeClr val="bg1"/>
                </a:solidFill>
              </a:rPr>
              <a:t>Interactive Rapid Prototyping:</a:t>
            </a:r>
            <a:r>
              <a:rPr lang="en-US" sz="1400" dirty="0">
                <a:solidFill>
                  <a:schemeClr val="bg1"/>
                </a:solidFill>
              </a:rPr>
              <a:t> A functional web interface that processes complex climate datasets within a single day.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chemeClr val="bg1"/>
                </a:solidFill>
              </a:rPr>
              <a:t>Narrative-Driven Visualization:</a:t>
            </a:r>
            <a:r>
              <a:rPr lang="en-US" sz="1400" dirty="0">
                <a:solidFill>
                  <a:schemeClr val="bg1"/>
                </a:solidFill>
              </a:rPr>
              <a:t> Transforms raw variables like </a:t>
            </a:r>
            <a:r>
              <a:rPr lang="en-US" sz="1400" b="1" dirty="0">
                <a:solidFill>
                  <a:schemeClr val="bg1"/>
                </a:solidFill>
              </a:rPr>
              <a:t>Temperature</a:t>
            </a:r>
            <a:r>
              <a:rPr lang="en-US" sz="1400" dirty="0">
                <a:solidFill>
                  <a:schemeClr val="bg1"/>
                </a:solidFill>
              </a:rPr>
              <a:t> and </a:t>
            </a:r>
            <a:r>
              <a:rPr lang="en-US" sz="1400" b="1" dirty="0">
                <a:solidFill>
                  <a:schemeClr val="bg1"/>
                </a:solidFill>
              </a:rPr>
              <a:t>Wind Speed</a:t>
            </a:r>
            <a:r>
              <a:rPr lang="en-US" sz="1400" dirty="0">
                <a:solidFill>
                  <a:schemeClr val="bg1"/>
                </a:solidFill>
              </a:rPr>
              <a:t> into spatial heatmaps and temporal plots</a:t>
            </a:r>
          </a:p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1400" b="1" dirty="0">
                <a:solidFill>
                  <a:schemeClr val="bg1"/>
                </a:solidFill>
              </a:rPr>
              <a:t>Accessibility &amp; Insight:</a:t>
            </a:r>
            <a:r>
              <a:rPr lang="en-US" sz="1400" dirty="0">
                <a:solidFill>
                  <a:schemeClr val="bg1"/>
                </a:solidFill>
              </a:rPr>
              <a:t> Designed for both expert researchers needing quick data looks and the general public interested in climate trends.</a:t>
            </a:r>
            <a:endParaRPr lang="en-IN" sz="1400" dirty="0">
              <a:solidFill>
                <a:schemeClr val="bg1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7A1534A-0051-8EE0-B771-07404EAA4F6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654" t="15999" r="5631" b="13163"/>
          <a:stretch>
            <a:fillRect/>
          </a:stretch>
        </p:blipFill>
        <p:spPr>
          <a:xfrm>
            <a:off x="2871696" y="3388283"/>
            <a:ext cx="6491236" cy="321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6573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5B15A-C657-88F5-4F43-6E7185FA79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A03CC-0DA2-ED0F-F422-0AB68E6B2D9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D400312-0A85-71C2-3487-46BB972ED3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D1ABF7-A15B-4FF0-CCB2-FF6A40846B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3980"/>
            <a:ext cx="12234629" cy="68341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4F066D7-427A-9899-BC2B-B906769D3C59}"/>
              </a:ext>
            </a:extLst>
          </p:cNvPr>
          <p:cNvSpPr txBox="1"/>
          <p:nvPr/>
        </p:nvSpPr>
        <p:spPr>
          <a:xfrm>
            <a:off x="3141406" y="383456"/>
            <a:ext cx="5909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Impact" panose="020B0806030902050204" pitchFamily="34" charset="0"/>
              </a:rPr>
              <a:t>Features and Implementation</a:t>
            </a:r>
            <a:endParaRPr lang="en-IN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11DE596C-4AE7-BAF5-76EC-286E3F953646}"/>
              </a:ext>
            </a:extLst>
          </p:cNvPr>
          <p:cNvCxnSpPr>
            <a:cxnSpLocks/>
          </p:cNvCxnSpPr>
          <p:nvPr/>
        </p:nvCxnSpPr>
        <p:spPr>
          <a:xfrm>
            <a:off x="3377380" y="1007562"/>
            <a:ext cx="543723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24D5B1AC-6BCD-A5EF-E904-FE903D5368F4}"/>
              </a:ext>
            </a:extLst>
          </p:cNvPr>
          <p:cNvSpPr/>
          <p:nvPr/>
        </p:nvSpPr>
        <p:spPr>
          <a:xfrm>
            <a:off x="3333137" y="945447"/>
            <a:ext cx="88490" cy="10457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8BD26BC-00FC-64ED-15E4-E76B56DF9262}"/>
              </a:ext>
            </a:extLst>
          </p:cNvPr>
          <p:cNvSpPr/>
          <p:nvPr/>
        </p:nvSpPr>
        <p:spPr>
          <a:xfrm>
            <a:off x="8770374" y="955276"/>
            <a:ext cx="88490" cy="10457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BF62E8-737A-CACC-F2CE-3A404551A1E4}"/>
              </a:ext>
            </a:extLst>
          </p:cNvPr>
          <p:cNvSpPr txBox="1"/>
          <p:nvPr/>
        </p:nvSpPr>
        <p:spPr>
          <a:xfrm>
            <a:off x="1209368" y="1101219"/>
            <a:ext cx="952745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>
                <a:solidFill>
                  <a:schemeClr val="bg1"/>
                </a:solidFill>
              </a:rPr>
              <a:t>PyClimaExplorer</a:t>
            </a:r>
            <a:r>
              <a:rPr lang="en-US" sz="1400" dirty="0">
                <a:solidFill>
                  <a:schemeClr val="bg1"/>
                </a:solidFill>
              </a:rPr>
              <a:t> offers a highly interactive experience where users can select between </a:t>
            </a:r>
            <a:r>
              <a:rPr lang="en-US" sz="1400" b="1" dirty="0">
                <a:solidFill>
                  <a:schemeClr val="bg1"/>
                </a:solidFill>
              </a:rPr>
              <a:t>Temperature, Wind Flow, and Precipitation</a:t>
            </a:r>
            <a:r>
              <a:rPr lang="en-US" sz="1400" dirty="0">
                <a:solidFill>
                  <a:schemeClr val="bg1"/>
                </a:solidFill>
              </a:rPr>
              <a:t> to visualize global trends. The interface features a dynamic timeline slider that allows for real-time transitions across a selected period, such as January 2020 to January 2021. By clicking any coordinate on the interactive globe, the tool instantly generates a localized variation graph. This seamless integration of spatial and temporal data turns complex datasets into an intuitive narrative of planetary change.</a:t>
            </a:r>
          </a:p>
          <a:p>
            <a:pPr algn="just"/>
            <a:endParaRPr lang="en-US" sz="1400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b="1" dirty="0">
                <a:solidFill>
                  <a:schemeClr val="bg1"/>
                </a:solidFill>
              </a:rPr>
              <a:t>Multi-Parameter Exploration:</a:t>
            </a:r>
            <a:r>
              <a:rPr lang="en-US" sz="1400" dirty="0">
                <a:solidFill>
                  <a:schemeClr val="bg1"/>
                </a:solidFill>
              </a:rPr>
              <a:t> Toggle between critical climate variables including Temperature, Precipitation, and Wind Speed.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b="1" dirty="0">
                <a:solidFill>
                  <a:schemeClr val="bg1"/>
                </a:solidFill>
              </a:rPr>
              <a:t>Dynamic Time-Sliding:</a:t>
            </a:r>
            <a:r>
              <a:rPr lang="en-US" sz="1400" dirty="0">
                <a:solidFill>
                  <a:schemeClr val="bg1"/>
                </a:solidFill>
              </a:rPr>
              <a:t> A synchronized slider that updates the global heatmap instantly as the user moves between initial and final timeframes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sz="1400" b="1" dirty="0">
                <a:solidFill>
                  <a:schemeClr val="bg1"/>
                </a:solidFill>
              </a:rPr>
              <a:t>Point-Specific Temporal Analysis:</a:t>
            </a:r>
            <a:r>
              <a:rPr lang="en-US" sz="1400" dirty="0">
                <a:solidFill>
                  <a:schemeClr val="bg1"/>
                </a:solidFill>
              </a:rPr>
              <a:t> On-click interaction that triggers a line plot showing localized variable fluctuations over the chosen time gap.</a:t>
            </a:r>
          </a:p>
        </p:txBody>
      </p:sp>
      <p:sp>
        <p:nvSpPr>
          <p:cNvPr id="22" name="Arrow: Left-Right 21">
            <a:extLst>
              <a:ext uri="{FF2B5EF4-FFF2-40B4-BE49-F238E27FC236}">
                <a16:creationId xmlns:a16="http://schemas.microsoft.com/office/drawing/2014/main" id="{DD6A57A1-2806-0B29-44DD-889B97315E12}"/>
              </a:ext>
            </a:extLst>
          </p:cNvPr>
          <p:cNvSpPr/>
          <p:nvPr/>
        </p:nvSpPr>
        <p:spPr>
          <a:xfrm>
            <a:off x="4488157" y="3705386"/>
            <a:ext cx="3485804" cy="611848"/>
          </a:xfrm>
          <a:prstGeom prst="leftRightArrow">
            <a:avLst>
              <a:gd name="adj1" fmla="val 100000"/>
              <a:gd name="adj2" fmla="val 64875"/>
            </a:avLst>
          </a:prstGeom>
          <a:solidFill>
            <a:schemeClr val="bg2">
              <a:lumMod val="25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BC78AE0-581B-C0C0-90CD-B3822CACAB55}"/>
              </a:ext>
            </a:extLst>
          </p:cNvPr>
          <p:cNvSpPr txBox="1"/>
          <p:nvPr/>
        </p:nvSpPr>
        <p:spPr>
          <a:xfrm>
            <a:off x="4913536" y="3791845"/>
            <a:ext cx="26350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dirty="0">
                <a:solidFill>
                  <a:schemeClr val="bg1"/>
                </a:solidFill>
                <a:latin typeface="BankGothic Md BT" panose="020B0807020203060204" pitchFamily="34" charset="0"/>
              </a:rPr>
              <a:t>PyClimaExplorer</a:t>
            </a:r>
            <a:endParaRPr lang="en-IN" sz="2000" dirty="0">
              <a:solidFill>
                <a:schemeClr val="bg1"/>
              </a:solidFill>
              <a:latin typeface="BankGothic Md BT" panose="020B0807020203060204" pitchFamily="34" charset="0"/>
            </a:endParaRP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1377F7C-6BA3-C9BC-7531-B8801EA4419A}"/>
              </a:ext>
            </a:extLst>
          </p:cNvPr>
          <p:cNvCxnSpPr>
            <a:cxnSpLocks/>
            <a:stCxn id="22" idx="5"/>
          </p:cNvCxnSpPr>
          <p:nvPr/>
        </p:nvCxnSpPr>
        <p:spPr>
          <a:xfrm flipH="1">
            <a:off x="6231058" y="4317234"/>
            <a:ext cx="1" cy="176106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6E82986-4F46-FD1D-27A8-612163A03C49}"/>
              </a:ext>
            </a:extLst>
          </p:cNvPr>
          <p:cNvCxnSpPr/>
          <p:nvPr/>
        </p:nvCxnSpPr>
        <p:spPr>
          <a:xfrm>
            <a:off x="3864077" y="4493346"/>
            <a:ext cx="5186516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25DB1519-E013-3C10-230D-380E3AFA359D}"/>
              </a:ext>
            </a:extLst>
          </p:cNvPr>
          <p:cNvCxnSpPr>
            <a:cxnSpLocks/>
          </p:cNvCxnSpPr>
          <p:nvPr/>
        </p:nvCxnSpPr>
        <p:spPr>
          <a:xfrm>
            <a:off x="3864077" y="4493341"/>
            <a:ext cx="0" cy="334298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EB3A13D-EE3E-29CF-D1F2-7A253E5772E9}"/>
              </a:ext>
            </a:extLst>
          </p:cNvPr>
          <p:cNvCxnSpPr>
            <a:cxnSpLocks/>
          </p:cNvCxnSpPr>
          <p:nvPr/>
        </p:nvCxnSpPr>
        <p:spPr>
          <a:xfrm>
            <a:off x="9050593" y="4493340"/>
            <a:ext cx="0" cy="265464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Freeform 7">
            <a:extLst>
              <a:ext uri="{FF2B5EF4-FFF2-40B4-BE49-F238E27FC236}">
                <a16:creationId xmlns:a16="http://schemas.microsoft.com/office/drawing/2014/main" id="{8DA07617-77C0-60F7-BBB4-06439730585D}"/>
              </a:ext>
            </a:extLst>
          </p:cNvPr>
          <p:cNvSpPr/>
          <p:nvPr/>
        </p:nvSpPr>
        <p:spPr>
          <a:xfrm>
            <a:off x="1677141" y="4907430"/>
            <a:ext cx="4373872" cy="687339"/>
          </a:xfrm>
          <a:custGeom>
            <a:avLst/>
            <a:gdLst/>
            <a:ahLst/>
            <a:cxnLst/>
            <a:rect l="l" t="t" r="r" b="b"/>
            <a:pathLst>
              <a:path w="6620807" h="828657">
                <a:moveTo>
                  <a:pt x="0" y="0"/>
                </a:moveTo>
                <a:lnTo>
                  <a:pt x="6620807" y="0"/>
                </a:lnTo>
                <a:lnTo>
                  <a:pt x="6620807" y="828657"/>
                </a:lnTo>
                <a:lnTo>
                  <a:pt x="0" y="82865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5844" t="-683888" r="-65892" b="-51712"/>
            </a:stretch>
          </a:blipFill>
        </p:spPr>
      </p:sp>
      <p:sp>
        <p:nvSpPr>
          <p:cNvPr id="32" name="Freeform 11">
            <a:extLst>
              <a:ext uri="{FF2B5EF4-FFF2-40B4-BE49-F238E27FC236}">
                <a16:creationId xmlns:a16="http://schemas.microsoft.com/office/drawing/2014/main" id="{F3C9F0B7-4341-FF53-0965-C0B8E254ADAB}"/>
              </a:ext>
            </a:extLst>
          </p:cNvPr>
          <p:cNvSpPr/>
          <p:nvPr/>
        </p:nvSpPr>
        <p:spPr>
          <a:xfrm>
            <a:off x="7020719" y="4758114"/>
            <a:ext cx="3715612" cy="1283730"/>
          </a:xfrm>
          <a:custGeom>
            <a:avLst/>
            <a:gdLst/>
            <a:ahLst/>
            <a:cxnLst/>
            <a:rect l="l" t="t" r="r" b="b"/>
            <a:pathLst>
              <a:path w="5724693" h="2259432">
                <a:moveTo>
                  <a:pt x="0" y="0"/>
                </a:moveTo>
                <a:lnTo>
                  <a:pt x="5724693" y="0"/>
                </a:lnTo>
                <a:lnTo>
                  <a:pt x="5724693" y="2259432"/>
                </a:lnTo>
                <a:lnTo>
                  <a:pt x="0" y="2259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0007" t="-49609" r="-19071" b="-42598"/>
            </a:stretch>
          </a:blipFill>
        </p:spPr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D7B7838-2011-B275-C7A8-1CACAD8B261A}"/>
              </a:ext>
            </a:extLst>
          </p:cNvPr>
          <p:cNvSpPr txBox="1"/>
          <p:nvPr/>
        </p:nvSpPr>
        <p:spPr>
          <a:xfrm flipH="1">
            <a:off x="1831121" y="5650263"/>
            <a:ext cx="38902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Slider for Time Variation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9F8174A-1EE3-7F16-F36C-1D8B82151ABE}"/>
              </a:ext>
            </a:extLst>
          </p:cNvPr>
          <p:cNvSpPr txBox="1"/>
          <p:nvPr/>
        </p:nvSpPr>
        <p:spPr>
          <a:xfrm>
            <a:off x="6902245" y="6154994"/>
            <a:ext cx="4277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Graphical Analysis for Particular Region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87418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1C374A-9A38-68FD-8FE1-FC68C423F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B835B-5DE4-F1CC-814B-24F944B447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8CB386-745F-E912-2BC6-B60EA0F577E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D2BB608-21B6-308F-F78B-9E751E8241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4629" cy="683418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3ABDD52-DCDB-F45A-46EE-42F4681C6491}"/>
              </a:ext>
            </a:extLst>
          </p:cNvPr>
          <p:cNvSpPr txBox="1"/>
          <p:nvPr/>
        </p:nvSpPr>
        <p:spPr>
          <a:xfrm>
            <a:off x="3190566" y="658761"/>
            <a:ext cx="59091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Impact" panose="020B0806030902050204" pitchFamily="34" charset="0"/>
              </a:rPr>
              <a:t>Technical Implementation</a:t>
            </a:r>
            <a:endParaRPr lang="en-IN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365195C-E7B3-0572-E85A-E04CB48210DD}"/>
              </a:ext>
            </a:extLst>
          </p:cNvPr>
          <p:cNvCxnSpPr>
            <a:cxnSpLocks/>
          </p:cNvCxnSpPr>
          <p:nvPr/>
        </p:nvCxnSpPr>
        <p:spPr>
          <a:xfrm>
            <a:off x="3398694" y="1243536"/>
            <a:ext cx="543723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98E1D1CF-6787-E4F1-FD72-713571642620}"/>
              </a:ext>
            </a:extLst>
          </p:cNvPr>
          <p:cNvSpPr/>
          <p:nvPr/>
        </p:nvSpPr>
        <p:spPr>
          <a:xfrm>
            <a:off x="3392130" y="1191252"/>
            <a:ext cx="88490" cy="10457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B669C29D-4F96-2C19-DFB0-EECB9A8E299C}"/>
              </a:ext>
            </a:extLst>
          </p:cNvPr>
          <p:cNvSpPr/>
          <p:nvPr/>
        </p:nvSpPr>
        <p:spPr>
          <a:xfrm>
            <a:off x="8770371" y="1191252"/>
            <a:ext cx="88490" cy="10457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838C68-F1F9-E2C0-DC90-130978835466}"/>
              </a:ext>
            </a:extLst>
          </p:cNvPr>
          <p:cNvSpPr txBox="1"/>
          <p:nvPr/>
        </p:nvSpPr>
        <p:spPr>
          <a:xfrm>
            <a:off x="1140542" y="1612490"/>
            <a:ext cx="992074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The implementation relies on </a:t>
            </a:r>
            <a:r>
              <a:rPr lang="en-US" b="1" dirty="0">
                <a:solidFill>
                  <a:schemeClr val="bg1"/>
                </a:solidFill>
              </a:rPr>
              <a:t>Xarray</a:t>
            </a:r>
            <a:r>
              <a:rPr lang="en-US" dirty="0">
                <a:solidFill>
                  <a:schemeClr val="bg1"/>
                </a:solidFill>
              </a:rPr>
              <a:t> to efficiently slice multi-dimensional </a:t>
            </a:r>
            <a:r>
              <a:rPr lang="en-US" b="1" dirty="0">
                <a:solidFill>
                  <a:schemeClr val="bg1"/>
                </a:solidFill>
              </a:rPr>
              <a:t>NetCDF</a:t>
            </a:r>
            <a:r>
              <a:rPr lang="en-US" dirty="0">
                <a:solidFill>
                  <a:schemeClr val="bg1"/>
                </a:solidFill>
              </a:rPr>
              <a:t> files across latitude, longitude, and time coordinates. The frontend is built using </a:t>
            </a:r>
            <a:r>
              <a:rPr lang="en-US" b="1" dirty="0">
                <a:solidFill>
                  <a:schemeClr val="bg1"/>
                </a:solidFill>
              </a:rPr>
              <a:t>Streamlit</a:t>
            </a:r>
            <a:r>
              <a:rPr lang="en-US" dirty="0">
                <a:solidFill>
                  <a:schemeClr val="bg1"/>
                </a:solidFill>
              </a:rPr>
              <a:t>, which manages the state of the user’s selections and the interactive timeline slider. For the visualizations, </a:t>
            </a:r>
            <a:r>
              <a:rPr lang="en-US" b="1" dirty="0">
                <a:solidFill>
                  <a:schemeClr val="bg1"/>
                </a:solidFill>
              </a:rPr>
              <a:t>Plotly</a:t>
            </a:r>
            <a:r>
              <a:rPr lang="en-US" dirty="0">
                <a:solidFill>
                  <a:schemeClr val="bg1"/>
                </a:solidFill>
              </a:rPr>
              <a:t> or </a:t>
            </a:r>
            <a:r>
              <a:rPr lang="en-US" b="1" dirty="0">
                <a:solidFill>
                  <a:schemeClr val="bg1"/>
                </a:solidFill>
              </a:rPr>
              <a:t>PyDeck</a:t>
            </a:r>
            <a:r>
              <a:rPr lang="en-US" dirty="0">
                <a:solidFill>
                  <a:schemeClr val="bg1"/>
                </a:solidFill>
              </a:rPr>
              <a:t> renders the global heatmap, while a callback function captures click events to trigger the temporal analysis. This architecture ensures that data processing remains rapid enough for a responsive, real-time dashboard.</a:t>
            </a:r>
          </a:p>
          <a:p>
            <a:pPr algn="just"/>
            <a:endParaRPr lang="en-US" dirty="0">
              <a:solidFill>
                <a:schemeClr val="bg1"/>
              </a:solidFill>
            </a:endParaRP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</a:rPr>
              <a:t>Data Handling (Xarray &amp; NumPy):</a:t>
            </a:r>
            <a:r>
              <a:rPr lang="en-US" dirty="0">
                <a:solidFill>
                  <a:schemeClr val="bg1"/>
                </a:solidFill>
              </a:rPr>
              <a:t> Performs high-speed indexing of .nc files to extract specific variable slices for the requested time range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</a:rPr>
              <a:t>Interactive UI (Streamlit):</a:t>
            </a:r>
            <a:r>
              <a:rPr lang="en-US" dirty="0">
                <a:solidFill>
                  <a:schemeClr val="bg1"/>
                </a:solidFill>
              </a:rPr>
              <a:t> Coordinates the dashboard logic, ensuring the globe and time-series plots update dynamically based on user inputs.</a:t>
            </a:r>
          </a:p>
          <a:p>
            <a:pPr marL="285750" indent="-285750" algn="just"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bg1"/>
                </a:solidFill>
              </a:rPr>
              <a:t>Dynamic Mapping &amp; Plotting:</a:t>
            </a:r>
            <a:r>
              <a:rPr lang="en-US" dirty="0">
                <a:solidFill>
                  <a:schemeClr val="bg1"/>
                </a:solidFill>
              </a:rPr>
              <a:t> Uses </a:t>
            </a:r>
            <a:r>
              <a:rPr lang="en-US" b="1" dirty="0">
                <a:solidFill>
                  <a:schemeClr val="bg1"/>
                </a:solidFill>
              </a:rPr>
              <a:t>Plotly</a:t>
            </a:r>
            <a:r>
              <a:rPr lang="en-US" dirty="0">
                <a:solidFill>
                  <a:schemeClr val="bg1"/>
                </a:solidFill>
              </a:rPr>
              <a:t> to render the interactive globe and generate temporal graphs through localized coordinate extraction.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82351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EA78AB-0A06-4A54-3495-BFBD3C9A58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4CFB43-D2C3-6A32-9236-1431E70D56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3556D4-4523-1C75-86D4-70DC667016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F189ADF-35BC-9F85-9649-612F608162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4629" cy="68341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717A0D4-D7FB-FF32-5603-39608E078087}"/>
              </a:ext>
            </a:extLst>
          </p:cNvPr>
          <p:cNvSpPr txBox="1"/>
          <p:nvPr/>
        </p:nvSpPr>
        <p:spPr>
          <a:xfrm>
            <a:off x="1430593" y="1386304"/>
            <a:ext cx="9330813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PyClimaExplorer</a:t>
            </a:r>
            <a:r>
              <a:rPr lang="en-US" dirty="0">
                <a:solidFill>
                  <a:schemeClr val="bg1"/>
                </a:solidFill>
              </a:rPr>
              <a:t> serves as a high-impact bridge between complex scientific reanalysis and intuitive public outreach. By transforming dense </a:t>
            </a:r>
            <a:r>
              <a:rPr lang="en-US" b="1" dirty="0">
                <a:solidFill>
                  <a:schemeClr val="bg1"/>
                </a:solidFill>
              </a:rPr>
              <a:t>NetCDF</a:t>
            </a:r>
            <a:r>
              <a:rPr lang="en-US" dirty="0">
                <a:solidFill>
                  <a:schemeClr val="bg1"/>
                </a:solidFill>
              </a:rPr>
              <a:t> data into interactive visual narratives, it allows researchers to rapidly prototype ideas and the public to grasp critical climate trends in real-time. The project turns raw, multi-dimensional numbers into a compelling story about our changing planet, making data actionable and accessible. This foundation sets the stage for a sophisticated climate analysis platform.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/>
                </a:solidFill>
              </a:rPr>
              <a:t>Immersive 3D Rendering</a:t>
            </a:r>
            <a:r>
              <a:rPr lang="en-US" dirty="0">
                <a:solidFill>
                  <a:schemeClr val="bg1"/>
                </a:solidFill>
              </a:rPr>
              <a:t>: Integrating </a:t>
            </a:r>
            <a:r>
              <a:rPr lang="en-US" b="1" dirty="0">
                <a:solidFill>
                  <a:schemeClr val="bg1"/>
                </a:solidFill>
              </a:rPr>
              <a:t>PyDeck</a:t>
            </a:r>
            <a:r>
              <a:rPr lang="en-US" dirty="0">
                <a:solidFill>
                  <a:schemeClr val="bg1"/>
                </a:solidFill>
              </a:rPr>
              <a:t> or </a:t>
            </a:r>
            <a:r>
              <a:rPr lang="en-US" b="1" dirty="0">
                <a:solidFill>
                  <a:schemeClr val="bg1"/>
                </a:solidFill>
              </a:rPr>
              <a:t>PyVista</a:t>
            </a:r>
            <a:r>
              <a:rPr lang="en-US" dirty="0">
                <a:solidFill>
                  <a:schemeClr val="bg1"/>
                </a:solidFill>
              </a:rPr>
              <a:t> to transition from 2D heatmaps to high-fidelity 3D globe visualizations.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/>
                </a:solidFill>
              </a:rPr>
              <a:t>Comparative Analysis Mode</a:t>
            </a:r>
            <a:r>
              <a:rPr lang="en-US" dirty="0">
                <a:solidFill>
                  <a:schemeClr val="bg1"/>
                </a:solidFill>
              </a:rPr>
              <a:t>: Implementing side-by-side comparison features to visualize changes between distinct timeframes, such as 1990 vs. 2020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/>
                </a:solidFill>
              </a:rPr>
              <a:t>Interactive "Story Mode"</a:t>
            </a:r>
            <a:r>
              <a:rPr lang="en-US" dirty="0">
                <a:solidFill>
                  <a:schemeClr val="bg1"/>
                </a:solidFill>
              </a:rPr>
              <a:t>: Developing a guided tour that automatically highlights and explains specific climate anomalies and extreme events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b="1" dirty="0">
                <a:solidFill>
                  <a:schemeClr val="bg1"/>
                </a:solidFill>
              </a:rPr>
              <a:t>Scalable Data Pipelines</a:t>
            </a:r>
            <a:r>
              <a:rPr lang="en-US" dirty="0">
                <a:solidFill>
                  <a:schemeClr val="bg1"/>
                </a:solidFill>
              </a:rPr>
              <a:t>: Expanding backend compatibility to support diverse datasets beyond </a:t>
            </a:r>
            <a:r>
              <a:rPr lang="en-US" b="1" dirty="0">
                <a:solidFill>
                  <a:schemeClr val="bg1"/>
                </a:solidFill>
              </a:rPr>
              <a:t>CESM</a:t>
            </a:r>
            <a:r>
              <a:rPr lang="en-US" dirty="0">
                <a:solidFill>
                  <a:schemeClr val="bg1"/>
                </a:solidFill>
              </a:rPr>
              <a:t> and </a:t>
            </a:r>
            <a:r>
              <a:rPr lang="en-US" b="1" dirty="0">
                <a:solidFill>
                  <a:schemeClr val="bg1"/>
                </a:solidFill>
              </a:rPr>
              <a:t>ERA5</a:t>
            </a:r>
            <a:r>
              <a:rPr lang="en-US" dirty="0">
                <a:solidFill>
                  <a:schemeClr val="bg1"/>
                </a:solidFill>
              </a:rPr>
              <a:t> reanalysis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BFCE388-1C18-3A37-EAAF-9E6B2B283C07}"/>
              </a:ext>
            </a:extLst>
          </p:cNvPr>
          <p:cNvSpPr txBox="1"/>
          <p:nvPr/>
        </p:nvSpPr>
        <p:spPr>
          <a:xfrm>
            <a:off x="2474461" y="537588"/>
            <a:ext cx="728570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Impact" panose="020B0806030902050204" pitchFamily="34" charset="0"/>
              </a:rPr>
              <a:t>Impact and Future Roadmap</a:t>
            </a:r>
            <a:endParaRPr lang="en-IN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4C071D5-DA97-0F71-7B00-C9641F6B1C0D}"/>
              </a:ext>
            </a:extLst>
          </p:cNvPr>
          <p:cNvCxnSpPr>
            <a:cxnSpLocks/>
          </p:cNvCxnSpPr>
          <p:nvPr/>
        </p:nvCxnSpPr>
        <p:spPr>
          <a:xfrm>
            <a:off x="3398694" y="1115719"/>
            <a:ext cx="543723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Oval 7">
            <a:extLst>
              <a:ext uri="{FF2B5EF4-FFF2-40B4-BE49-F238E27FC236}">
                <a16:creationId xmlns:a16="http://schemas.microsoft.com/office/drawing/2014/main" id="{3FC1F959-C416-2654-3707-DF14649B1A93}"/>
              </a:ext>
            </a:extLst>
          </p:cNvPr>
          <p:cNvSpPr/>
          <p:nvPr/>
        </p:nvSpPr>
        <p:spPr>
          <a:xfrm>
            <a:off x="3392130" y="1063435"/>
            <a:ext cx="88490" cy="10457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78AF6E5-DC6A-7EE2-900D-3E04EC7FED21}"/>
              </a:ext>
            </a:extLst>
          </p:cNvPr>
          <p:cNvSpPr/>
          <p:nvPr/>
        </p:nvSpPr>
        <p:spPr>
          <a:xfrm>
            <a:off x="8770371" y="1063435"/>
            <a:ext cx="88490" cy="10457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997272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19E0FD-EA77-D9A6-080C-493CD4F45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AE939-B132-4F44-F98E-0260F0833C0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2B3C2D-7DA7-460D-C66B-AEC0DF07B9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674CDA-BD5D-5C13-5FE2-B5AF91017E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234629" cy="683418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09DAD88-09AF-F431-8673-6E62A05A0ACB}"/>
              </a:ext>
            </a:extLst>
          </p:cNvPr>
          <p:cNvSpPr txBox="1"/>
          <p:nvPr/>
        </p:nvSpPr>
        <p:spPr>
          <a:xfrm>
            <a:off x="3256127" y="393290"/>
            <a:ext cx="56633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chemeClr val="bg1"/>
                </a:solidFill>
                <a:latin typeface="Impact" panose="020B0806030902050204" pitchFamily="34" charset="0"/>
              </a:rPr>
              <a:t>Bibliography</a:t>
            </a:r>
            <a:endParaRPr lang="en-IN" sz="3200" dirty="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BC801F0-0A9A-B4FF-8559-ABFE4C12B139}"/>
              </a:ext>
            </a:extLst>
          </p:cNvPr>
          <p:cNvCxnSpPr/>
          <p:nvPr/>
        </p:nvCxnSpPr>
        <p:spPr>
          <a:xfrm>
            <a:off x="4218039" y="971553"/>
            <a:ext cx="3775587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8E55AA05-513C-BCAF-65D9-242DF59C3B7C}"/>
              </a:ext>
            </a:extLst>
          </p:cNvPr>
          <p:cNvSpPr/>
          <p:nvPr/>
        </p:nvSpPr>
        <p:spPr>
          <a:xfrm>
            <a:off x="4173794" y="922852"/>
            <a:ext cx="88490" cy="10457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E2367BD-DF9B-607E-157D-1A22C55BF71D}"/>
              </a:ext>
            </a:extLst>
          </p:cNvPr>
          <p:cNvSpPr/>
          <p:nvPr/>
        </p:nvSpPr>
        <p:spPr>
          <a:xfrm>
            <a:off x="7975603" y="912794"/>
            <a:ext cx="88490" cy="10457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9B93CD-39B4-4477-80A6-DACFE22EB535}"/>
              </a:ext>
            </a:extLst>
          </p:cNvPr>
          <p:cNvSpPr txBox="1"/>
          <p:nvPr/>
        </p:nvSpPr>
        <p:spPr>
          <a:xfrm>
            <a:off x="1219200" y="1171720"/>
            <a:ext cx="9448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ERA5 Reanalysis Documentation:</a:t>
            </a:r>
            <a:r>
              <a:rPr lang="en-US" dirty="0">
                <a:solidFill>
                  <a:schemeClr val="bg1"/>
                </a:solidFill>
              </a:rPr>
              <a:t> "ERA5: Fifth generation of ECMWF atmospheric </a:t>
            </a:r>
            <a:r>
              <a:rPr lang="en-US" dirty="0" err="1">
                <a:solidFill>
                  <a:schemeClr val="bg1"/>
                </a:solidFill>
              </a:rPr>
              <a:t>reanalyses</a:t>
            </a:r>
            <a:r>
              <a:rPr lang="en-US" dirty="0">
                <a:solidFill>
                  <a:schemeClr val="bg1"/>
                </a:solidFill>
              </a:rPr>
              <a:t> of the global climate.“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>
                <a:solidFill>
                  <a:schemeClr val="bg1"/>
                </a:solidFill>
              </a:rPr>
              <a:t>UCAR/NCAR CESM Resources:</a:t>
            </a:r>
            <a:r>
              <a:rPr lang="en-US" dirty="0">
                <a:solidFill>
                  <a:schemeClr val="bg1"/>
                </a:solidFill>
              </a:rPr>
              <a:t> "The Community Earth System Model (CESM) Project," University Corporation for Atmospheric Research.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b="1" dirty="0" err="1">
                <a:solidFill>
                  <a:schemeClr val="bg1"/>
                </a:solidFill>
              </a:rPr>
              <a:t>Unidata</a:t>
            </a:r>
            <a:r>
              <a:rPr lang="en-US" b="1" dirty="0">
                <a:solidFill>
                  <a:schemeClr val="bg1"/>
                </a:solidFill>
              </a:rPr>
              <a:t> NetCDF:</a:t>
            </a:r>
            <a:r>
              <a:rPr lang="en-US" dirty="0">
                <a:solidFill>
                  <a:schemeClr val="bg1"/>
                </a:solidFill>
              </a:rPr>
              <a:t> "Network Common Data Form (NetCDF) Users Guide," </a:t>
            </a:r>
            <a:r>
              <a:rPr lang="en-US" dirty="0" err="1">
                <a:solidFill>
                  <a:schemeClr val="bg1"/>
                </a:solidFill>
              </a:rPr>
              <a:t>Unidata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solidFill>
                  <a:schemeClr val="bg1"/>
                </a:solidFill>
              </a:rPr>
              <a:t>Gemini AI.</a:t>
            </a:r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D83080E-9A6B-F318-AE78-A5A55FA25B1A}"/>
              </a:ext>
            </a:extLst>
          </p:cNvPr>
          <p:cNvSpPr txBox="1"/>
          <p:nvPr/>
        </p:nvSpPr>
        <p:spPr>
          <a:xfrm>
            <a:off x="1219200" y="3313471"/>
            <a:ext cx="933081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TEAM NAME : THE POINTLESS POINTERS</a:t>
            </a:r>
          </a:p>
          <a:p>
            <a:r>
              <a:rPr lang="en-US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COLLEGE NAME : INDIAN INSTITUTE OF TECHNOLOGY (BHU), VARANASI</a:t>
            </a:r>
          </a:p>
          <a:p>
            <a:r>
              <a:rPr lang="en-IN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PARTICIPANTS:</a:t>
            </a:r>
          </a:p>
          <a:p>
            <a:r>
              <a:rPr lang="en-IN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1 - DHAIRYA KANT KISLAY </a:t>
            </a:r>
          </a:p>
          <a:p>
            <a:r>
              <a:rPr lang="en-IN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2 – DIKSHA UPADHYAY</a:t>
            </a:r>
          </a:p>
          <a:p>
            <a:r>
              <a:rPr lang="en-IN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3 – HIMANSHU MISHRA (L)</a:t>
            </a:r>
          </a:p>
          <a:p>
            <a:r>
              <a:rPr lang="en-IN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4 – VANSHIKA DHOOT</a:t>
            </a:r>
          </a:p>
          <a:p>
            <a:endParaRPr lang="en-IN" dirty="0">
              <a:solidFill>
                <a:schemeClr val="bg1"/>
              </a:solidFill>
              <a:latin typeface="Bahnschrift Light Condensed" panose="020B0502040204020203" pitchFamily="34" charset="0"/>
            </a:endParaRPr>
          </a:p>
          <a:p>
            <a:r>
              <a:rPr lang="en-IN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THANK YOU!</a:t>
            </a:r>
          </a:p>
          <a:p>
            <a:r>
              <a:rPr lang="en-IN" dirty="0">
                <a:solidFill>
                  <a:schemeClr val="bg1"/>
                </a:solidFill>
                <a:latin typeface="Bahnschrift Light Condensed" panose="020B0502040204020203" pitchFamily="34" charset="0"/>
              </a:rPr>
              <a:t>TECHNEX ‘26, IIT BHU.</a:t>
            </a:r>
          </a:p>
          <a:p>
            <a:endParaRPr lang="en-US" dirty="0">
              <a:solidFill>
                <a:schemeClr val="bg1"/>
              </a:solidFill>
              <a:latin typeface="Bahnschrift Light Condense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0655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872</Words>
  <Application>Microsoft Office PowerPoint</Application>
  <PresentationFormat>Widescreen</PresentationFormat>
  <Paragraphs>54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9" baseType="lpstr">
      <vt:lpstr>Aptos</vt:lpstr>
      <vt:lpstr>Aptos Display</vt:lpstr>
      <vt:lpstr>Arial</vt:lpstr>
      <vt:lpstr>Bahnschrift Light Condensed</vt:lpstr>
      <vt:lpstr>BankGothic Md BT</vt:lpstr>
      <vt:lpstr>Bernard MT Condensed</vt:lpstr>
      <vt:lpstr>Bradley Hand ITC</vt:lpstr>
      <vt:lpstr>Courier New</vt:lpstr>
      <vt:lpstr>Impact</vt:lpstr>
      <vt:lpstr>Old English Text MT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Dhairya Kant</dc:creator>
  <cp:lastModifiedBy>Dhairya Kant</cp:lastModifiedBy>
  <cp:revision>13</cp:revision>
  <dcterms:created xsi:type="dcterms:W3CDTF">2026-03-13T13:22:08Z</dcterms:created>
  <dcterms:modified xsi:type="dcterms:W3CDTF">2026-03-13T18:20:07Z</dcterms:modified>
</cp:coreProperties>
</file>